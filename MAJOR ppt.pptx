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95259E-EF72-46A7-975C-3ABA2835F3A0}" v="4" dt="2024-11-17T10:26:24.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4660"/>
  </p:normalViewPr>
  <p:slideViewPr>
    <p:cSldViewPr snapToGrid="0">
      <p:cViewPr varScale="1">
        <p:scale>
          <a:sx n="59" d="100"/>
          <a:sy n="59" d="100"/>
        </p:scale>
        <p:origin x="6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73FE-130B-B112-AAFB-2215775121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B7E643-9604-9631-83BD-0F1745F21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505543-A6FC-95F2-F5B7-449005FE3CF0}"/>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73FC31DD-6768-54F0-809A-2B23983EB1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E24B6A-4BF3-65C8-76C0-434280D17857}"/>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589097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B00F1-8C82-23B2-C7F3-392213B6E5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A8B86C-31A2-5D83-11E4-7B847C144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D45F8A-9E67-9A98-F958-B624E9643AD6}"/>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76CA79DA-F9BA-9284-2382-2F991EF73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6537E2-7D00-B799-AF2C-F948FB863145}"/>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310762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D17BD-537A-6980-DEB1-F33B32A0FC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35CD24-C723-EE04-F2D4-0E6EB751B9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20FE00-105C-E92C-AAC1-E203D7E4203F}"/>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6273C11E-644A-973B-670D-53330AC37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6D4E9F-CF15-3864-918E-284226AAA541}"/>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2555359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8D50-A3AD-26D3-2169-264F9CED50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146190-C404-DA25-2861-CF5AD5D337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880052-C7C3-A2E4-8C7C-1E2978F557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5A21DA-4968-E533-A806-1AD8EC9E3F8F}"/>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6" name="Footer Placeholder 5">
            <a:extLst>
              <a:ext uri="{FF2B5EF4-FFF2-40B4-BE49-F238E27FC236}">
                <a16:creationId xmlns:a16="http://schemas.microsoft.com/office/drawing/2014/main" id="{AFCC8290-451B-2882-EDD0-4B5618E54F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B4FA7-1C01-CA18-C51E-3B6CE164B29B}"/>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4022458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5B79F-ECE2-2CB0-9DC5-F440F305E8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6FB3A-65CA-3C41-3E44-DE7C709BC2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54B1BD-E914-8813-CD6D-47560B7D74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6D84BF-F048-0EFB-33F3-3A2A8E88A4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22B56-F0D3-4FD3-E34F-5E869C4CD3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097831-DBE8-FD57-99D1-550329FC363B}"/>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8" name="Footer Placeholder 7">
            <a:extLst>
              <a:ext uri="{FF2B5EF4-FFF2-40B4-BE49-F238E27FC236}">
                <a16:creationId xmlns:a16="http://schemas.microsoft.com/office/drawing/2014/main" id="{8C16DAD1-D4E5-1539-AF42-32E5F5417A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F8E801-D55B-4349-6AF3-158D3695CD4D}"/>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1479783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9364-5CCB-243A-EA2A-2FEFFBEDDC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F95990-F35C-9829-7DF7-6BC874C935A8}"/>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4" name="Footer Placeholder 3">
            <a:extLst>
              <a:ext uri="{FF2B5EF4-FFF2-40B4-BE49-F238E27FC236}">
                <a16:creationId xmlns:a16="http://schemas.microsoft.com/office/drawing/2014/main" id="{2ABA1F87-C3FE-2462-B877-36F42D944A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D02DF8-6BC0-02D3-EDAE-D2FCED570C47}"/>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94213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F4E81-703D-A217-D23B-F313DE61787B}"/>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3" name="Footer Placeholder 2">
            <a:extLst>
              <a:ext uri="{FF2B5EF4-FFF2-40B4-BE49-F238E27FC236}">
                <a16:creationId xmlns:a16="http://schemas.microsoft.com/office/drawing/2014/main" id="{6B38ED05-6316-C186-50B7-5A5019D86A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EF3585-509A-7124-FED7-1FF0F7190089}"/>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147586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B3DD2-BEA4-8177-06FD-7FC5A8AE0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3AE350-E187-6BC9-E5BC-9059957A6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C30EF5-8AD9-88E6-8442-309BE2777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72BC8D-02C4-D693-0F93-60876107D5DC}"/>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6" name="Footer Placeholder 5">
            <a:extLst>
              <a:ext uri="{FF2B5EF4-FFF2-40B4-BE49-F238E27FC236}">
                <a16:creationId xmlns:a16="http://schemas.microsoft.com/office/drawing/2014/main" id="{5507B9A0-375F-0FCE-E52D-8AEA8573EA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24F45A-CC66-A10C-CF8A-80C6B531A3CD}"/>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837574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E771-9714-EE6C-9DDA-4B1D5535E7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293E8F-C3CA-A3B4-A689-3736E3913E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24CEDF-4C64-8A81-477B-6DA23AE93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7BD170-7D0E-8FA8-B420-ABE04DDDF1D5}"/>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6" name="Footer Placeholder 5">
            <a:extLst>
              <a:ext uri="{FF2B5EF4-FFF2-40B4-BE49-F238E27FC236}">
                <a16:creationId xmlns:a16="http://schemas.microsoft.com/office/drawing/2014/main" id="{D7DFF3B4-8F14-5428-2A3B-1F8E7339C6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A0B02-981C-7865-471B-6CC0A05396B6}"/>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3699575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4EFE-D3E2-6624-7F9B-4996E3E5AA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372277-D6D7-D35C-1DB7-5809F52CE1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744C88-FDF3-DDEC-8BDC-8E52873173E4}"/>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FC60D88A-E63E-9C1C-7755-016913DC4B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3056F9-613A-67EC-16CE-7B0642026C57}"/>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4135400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44AE21-343A-9D35-4A27-C201418B8C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D1D6DB-E0BC-26C6-6A35-EB7426BB7B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ADCC3-1C60-7CC8-62D5-BDA834DBCED0}"/>
              </a:ext>
            </a:extLst>
          </p:cNvPr>
          <p:cNvSpPr>
            <a:spLocks noGrp="1"/>
          </p:cNvSpPr>
          <p:nvPr>
            <p:ph type="dt" sz="half" idx="10"/>
          </p:nvPr>
        </p:nvSpPr>
        <p:spPr/>
        <p:txBody>
          <a:body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61517A18-3908-9383-952D-9E822C971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03359E-769C-FCB2-2C30-0DFEA1A64B25}"/>
              </a:ext>
            </a:extLst>
          </p:cNvPr>
          <p:cNvSpPr>
            <a:spLocks noGrp="1"/>
          </p:cNvSpPr>
          <p:nvPr>
            <p:ph type="sldNum" sz="quarter" idx="12"/>
          </p:nvPr>
        </p:nvSpPr>
        <p:spPr/>
        <p:txBody>
          <a:bodyPr/>
          <a:lstStyle/>
          <a:p>
            <a:fld id="{E4E5208E-2B70-4841-A45A-BDE1BC081249}" type="slidenum">
              <a:rPr lang="en-IN" smtClean="0"/>
              <a:t>‹#›</a:t>
            </a:fld>
            <a:endParaRPr lang="en-IN"/>
          </a:p>
        </p:txBody>
      </p:sp>
    </p:spTree>
    <p:extLst>
      <p:ext uri="{BB962C8B-B14F-4D97-AF65-F5344CB8AC3E}">
        <p14:creationId xmlns:p14="http://schemas.microsoft.com/office/powerpoint/2010/main" val="3326535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3B452-6DD2-BF50-3694-50749A97DD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8E808F-5349-61FD-4C35-15517314E8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23B33B-B279-B12B-007B-E3C32DD0C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7BFE78-A5B2-498F-A241-AE803ECD7BB1}" type="datetimeFigureOut">
              <a:rPr lang="en-IN" smtClean="0"/>
              <a:t>10-06-2025</a:t>
            </a:fld>
            <a:endParaRPr lang="en-IN"/>
          </a:p>
        </p:txBody>
      </p:sp>
      <p:sp>
        <p:nvSpPr>
          <p:cNvPr id="5" name="Footer Placeholder 4">
            <a:extLst>
              <a:ext uri="{FF2B5EF4-FFF2-40B4-BE49-F238E27FC236}">
                <a16:creationId xmlns:a16="http://schemas.microsoft.com/office/drawing/2014/main" id="{C37F360C-32D9-0E58-A04D-34FD1990D6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3BF8A3-232B-4723-428D-C76D5BE2CD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E5208E-2B70-4841-A45A-BDE1BC081249}" type="slidenum">
              <a:rPr lang="en-IN" smtClean="0"/>
              <a:t>‹#›</a:t>
            </a:fld>
            <a:endParaRPr lang="en-IN"/>
          </a:p>
        </p:txBody>
      </p:sp>
    </p:spTree>
    <p:extLst>
      <p:ext uri="{BB962C8B-B14F-4D97-AF65-F5344CB8AC3E}">
        <p14:creationId xmlns:p14="http://schemas.microsoft.com/office/powerpoint/2010/main" val="87378350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EB4C87-1AA3-4406-C6ED-23F24D3C0404}"/>
              </a:ext>
            </a:extLst>
          </p:cNvPr>
          <p:cNvSpPr txBox="1"/>
          <p:nvPr/>
        </p:nvSpPr>
        <p:spPr>
          <a:xfrm>
            <a:off x="1224644" y="905822"/>
            <a:ext cx="9546771"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Advancements  In  Music  Mood Classification  Machine  Learning Techniques  For  Mood  Analysis</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DF8657-7F6D-54CF-044B-8A3A6B8DA0A5}"/>
              </a:ext>
            </a:extLst>
          </p:cNvPr>
          <p:cNvSpPr txBox="1"/>
          <p:nvPr/>
        </p:nvSpPr>
        <p:spPr>
          <a:xfrm>
            <a:off x="-304799" y="4395520"/>
            <a:ext cx="4713514" cy="1631216"/>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US" sz="2400" dirty="0">
                <a:latin typeface="Times New Roman" panose="02020603050405020304" pitchFamily="18" charset="0"/>
                <a:cs typeface="Times New Roman" panose="02020603050405020304" pitchFamily="18" charset="0"/>
              </a:rPr>
              <a:t>Mr. A. ANAND</a:t>
            </a:r>
          </a:p>
          <a:p>
            <a:pPr algn="ctr"/>
            <a:r>
              <a:rPr lang="en-US" sz="2400" dirty="0">
                <a:latin typeface="Times New Roman" panose="02020603050405020304" pitchFamily="18" charset="0"/>
                <a:cs typeface="Times New Roman" panose="02020603050405020304" pitchFamily="18" charset="0"/>
              </a:rPr>
              <a:t>Asst. Professor </a:t>
            </a:r>
          </a:p>
          <a:p>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0DA7780-E61F-B897-57EA-5256D51B09A1}"/>
              </a:ext>
            </a:extLst>
          </p:cNvPr>
          <p:cNvSpPr txBox="1"/>
          <p:nvPr/>
        </p:nvSpPr>
        <p:spPr>
          <a:xfrm>
            <a:off x="5998030" y="4382518"/>
            <a:ext cx="6498772"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VIJAYASRI JUNNU	  	        21S11A05C6</a:t>
            </a:r>
          </a:p>
          <a:p>
            <a:r>
              <a:rPr lang="en-US" sz="2000" dirty="0">
                <a:latin typeface="Times New Roman" panose="02020603050405020304" pitchFamily="18" charset="0"/>
                <a:cs typeface="Times New Roman" panose="02020603050405020304" pitchFamily="18" charset="0"/>
              </a:rPr>
              <a:t>KEERTHANA JUMBARATH      	        21S11A0583</a:t>
            </a:r>
          </a:p>
          <a:p>
            <a:r>
              <a:rPr lang="en-US" sz="2000" dirty="0">
                <a:latin typeface="Times New Roman" panose="02020603050405020304" pitchFamily="18" charset="0"/>
                <a:cs typeface="Times New Roman" panose="02020603050405020304" pitchFamily="18" charset="0"/>
              </a:rPr>
              <a:t>VARSHINI VASAM		        21S11A05C3</a:t>
            </a:r>
          </a:p>
          <a:p>
            <a:r>
              <a:rPr lang="en-US" sz="2000" dirty="0">
                <a:latin typeface="Times New Roman" panose="02020603050405020304" pitchFamily="18" charset="0"/>
                <a:cs typeface="Times New Roman" panose="02020603050405020304" pitchFamily="18" charset="0"/>
              </a:rPr>
              <a:t>SANDEEP KAMSALI 	        	        21S11A05A3</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301EC44-006A-DAFA-1E56-3FA8BA479AA6}"/>
              </a:ext>
            </a:extLst>
          </p:cNvPr>
          <p:cNvSpPr txBox="1"/>
          <p:nvPr/>
        </p:nvSpPr>
        <p:spPr>
          <a:xfrm>
            <a:off x="7037616" y="3766457"/>
            <a:ext cx="4027714"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PRESENTED BY</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029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503DBA5-AC2B-788D-F82D-043D9B2CDAC5}"/>
              </a:ext>
            </a:extLst>
          </p:cNvPr>
          <p:cNvGrpSpPr/>
          <p:nvPr/>
        </p:nvGrpSpPr>
        <p:grpSpPr>
          <a:xfrm>
            <a:off x="-1754901" y="501932"/>
            <a:ext cx="8128000" cy="5202585"/>
            <a:chOff x="2032000" y="827706"/>
            <a:chExt cx="8128000" cy="5202585"/>
          </a:xfrm>
          <a:blipFill>
            <a:blip r:embed="rId2"/>
            <a:stretch>
              <a:fillRect/>
            </a:stretch>
          </a:blipFill>
        </p:grpSpPr>
        <p:sp>
          <p:nvSpPr>
            <p:cNvPr id="5" name="Freeform: Shape 4">
              <a:extLst>
                <a:ext uri="{FF2B5EF4-FFF2-40B4-BE49-F238E27FC236}">
                  <a16:creationId xmlns:a16="http://schemas.microsoft.com/office/drawing/2014/main" id="{CC50259D-900E-7BE0-2409-B0317261AA25}"/>
                </a:ext>
              </a:extLst>
            </p:cNvPr>
            <p:cNvSpPr/>
            <p:nvPr/>
          </p:nvSpPr>
          <p:spPr>
            <a:xfrm>
              <a:off x="3984345" y="4061113"/>
              <a:ext cx="2283968" cy="1969178"/>
            </a:xfrm>
            <a:custGeom>
              <a:avLst/>
              <a:gdLst>
                <a:gd name="connsiteX0" fmla="*/ 0 w 2283968"/>
                <a:gd name="connsiteY0" fmla="*/ 984589 h 1969178"/>
                <a:gd name="connsiteX1" fmla="*/ 492295 w 2283968"/>
                <a:gd name="connsiteY1" fmla="*/ 0 h 1969178"/>
                <a:gd name="connsiteX2" fmla="*/ 1791674 w 2283968"/>
                <a:gd name="connsiteY2" fmla="*/ 0 h 1969178"/>
                <a:gd name="connsiteX3" fmla="*/ 2283968 w 2283968"/>
                <a:gd name="connsiteY3" fmla="*/ 984589 h 1969178"/>
                <a:gd name="connsiteX4" fmla="*/ 1791674 w 2283968"/>
                <a:gd name="connsiteY4" fmla="*/ 1969178 h 1969178"/>
                <a:gd name="connsiteX5" fmla="*/ 492295 w 2283968"/>
                <a:gd name="connsiteY5" fmla="*/ 1969178 h 1969178"/>
                <a:gd name="connsiteX6" fmla="*/ 0 w 2283968"/>
                <a:gd name="connsiteY6" fmla="*/ 984589 h 196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968" h="1969178">
                  <a:moveTo>
                    <a:pt x="0" y="984589"/>
                  </a:moveTo>
                  <a:lnTo>
                    <a:pt x="492295" y="0"/>
                  </a:lnTo>
                  <a:lnTo>
                    <a:pt x="1791674" y="0"/>
                  </a:lnTo>
                  <a:lnTo>
                    <a:pt x="2283968" y="984589"/>
                  </a:lnTo>
                  <a:lnTo>
                    <a:pt x="1791674" y="1969178"/>
                  </a:lnTo>
                  <a:lnTo>
                    <a:pt x="492295" y="1969178"/>
                  </a:lnTo>
                  <a:lnTo>
                    <a:pt x="0" y="984589"/>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anchor="ctr" anchorCtr="0">
              <a:noAutofit/>
            </a:bodyPr>
            <a:lstStyle/>
            <a:p>
              <a:pPr marL="0" lvl="0" indent="0" algn="ctr" defTabSz="2400300">
                <a:lnSpc>
                  <a:spcPct val="90000"/>
                </a:lnSpc>
                <a:spcBef>
                  <a:spcPct val="0"/>
                </a:spcBef>
                <a:spcAft>
                  <a:spcPct val="35000"/>
                </a:spcAft>
                <a:buNone/>
              </a:pPr>
              <a:endParaRPr lang="en-IN" sz="5400" kern="1200"/>
            </a:p>
          </p:txBody>
        </p:sp>
        <p:sp>
          <p:nvSpPr>
            <p:cNvPr id="6" name="Hexagon 5">
              <a:extLst>
                <a:ext uri="{FF2B5EF4-FFF2-40B4-BE49-F238E27FC236}">
                  <a16:creationId xmlns:a16="http://schemas.microsoft.com/office/drawing/2014/main" id="{7E9439EA-3721-78EE-4FC1-626264CF274D}"/>
                </a:ext>
              </a:extLst>
            </p:cNvPr>
            <p:cNvSpPr/>
            <p:nvPr/>
          </p:nvSpPr>
          <p:spPr>
            <a:xfrm>
              <a:off x="4043680" y="4930465"/>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7" name="Hexagon 6">
              <a:extLst>
                <a:ext uri="{FF2B5EF4-FFF2-40B4-BE49-F238E27FC236}">
                  <a16:creationId xmlns:a16="http://schemas.microsoft.com/office/drawing/2014/main" id="{4D3E5819-345A-D973-96D3-75D07CA47EB6}"/>
                </a:ext>
              </a:extLst>
            </p:cNvPr>
            <p:cNvSpPr/>
            <p:nvPr/>
          </p:nvSpPr>
          <p:spPr>
            <a:xfrm>
              <a:off x="2032000" y="3003427"/>
              <a:ext cx="2283968" cy="1969178"/>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Hexagon 7">
              <a:extLst>
                <a:ext uri="{FF2B5EF4-FFF2-40B4-BE49-F238E27FC236}">
                  <a16:creationId xmlns:a16="http://schemas.microsoft.com/office/drawing/2014/main" id="{EB19EC3E-B6C6-78AC-122D-3BE5F3ACBF89}"/>
                </a:ext>
              </a:extLst>
            </p:cNvPr>
            <p:cNvSpPr/>
            <p:nvPr/>
          </p:nvSpPr>
          <p:spPr>
            <a:xfrm>
              <a:off x="3586886" y="4712477"/>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9" name="Freeform: Shape 8">
              <a:extLst>
                <a:ext uri="{FF2B5EF4-FFF2-40B4-BE49-F238E27FC236}">
                  <a16:creationId xmlns:a16="http://schemas.microsoft.com/office/drawing/2014/main" id="{1FD01A54-1AD6-2E93-D0B5-4D80EC399FDD}"/>
                </a:ext>
              </a:extLst>
            </p:cNvPr>
            <p:cNvSpPr/>
            <p:nvPr/>
          </p:nvSpPr>
          <p:spPr>
            <a:xfrm>
              <a:off x="5930188" y="2980016"/>
              <a:ext cx="2283968" cy="1969178"/>
            </a:xfrm>
            <a:custGeom>
              <a:avLst/>
              <a:gdLst>
                <a:gd name="connsiteX0" fmla="*/ 0 w 2283968"/>
                <a:gd name="connsiteY0" fmla="*/ 984589 h 1969178"/>
                <a:gd name="connsiteX1" fmla="*/ 492295 w 2283968"/>
                <a:gd name="connsiteY1" fmla="*/ 0 h 1969178"/>
                <a:gd name="connsiteX2" fmla="*/ 1791674 w 2283968"/>
                <a:gd name="connsiteY2" fmla="*/ 0 h 1969178"/>
                <a:gd name="connsiteX3" fmla="*/ 2283968 w 2283968"/>
                <a:gd name="connsiteY3" fmla="*/ 984589 h 1969178"/>
                <a:gd name="connsiteX4" fmla="*/ 1791674 w 2283968"/>
                <a:gd name="connsiteY4" fmla="*/ 1969178 h 1969178"/>
                <a:gd name="connsiteX5" fmla="*/ 492295 w 2283968"/>
                <a:gd name="connsiteY5" fmla="*/ 1969178 h 1969178"/>
                <a:gd name="connsiteX6" fmla="*/ 0 w 2283968"/>
                <a:gd name="connsiteY6" fmla="*/ 984589 h 196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968" h="1969178">
                  <a:moveTo>
                    <a:pt x="0" y="984589"/>
                  </a:moveTo>
                  <a:lnTo>
                    <a:pt x="492295" y="0"/>
                  </a:lnTo>
                  <a:lnTo>
                    <a:pt x="1791674" y="0"/>
                  </a:lnTo>
                  <a:lnTo>
                    <a:pt x="2283968" y="984589"/>
                  </a:lnTo>
                  <a:lnTo>
                    <a:pt x="1791674" y="1969178"/>
                  </a:lnTo>
                  <a:lnTo>
                    <a:pt x="492295" y="1969178"/>
                  </a:lnTo>
                  <a:lnTo>
                    <a:pt x="0" y="984589"/>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anchor="ctr" anchorCtr="0">
              <a:noAutofit/>
            </a:bodyPr>
            <a:lstStyle/>
            <a:p>
              <a:pPr marL="0" lvl="0" indent="0" algn="ctr" defTabSz="2400300">
                <a:lnSpc>
                  <a:spcPct val="90000"/>
                </a:lnSpc>
                <a:spcBef>
                  <a:spcPct val="0"/>
                </a:spcBef>
                <a:spcAft>
                  <a:spcPct val="35000"/>
                </a:spcAft>
                <a:buNone/>
              </a:pPr>
              <a:endParaRPr lang="en-IN" sz="5400" kern="1200"/>
            </a:p>
          </p:txBody>
        </p:sp>
        <p:sp>
          <p:nvSpPr>
            <p:cNvPr id="10" name="Hexagon 9">
              <a:extLst>
                <a:ext uri="{FF2B5EF4-FFF2-40B4-BE49-F238E27FC236}">
                  <a16:creationId xmlns:a16="http://schemas.microsoft.com/office/drawing/2014/main" id="{28CD9D31-0506-B16D-E571-1B2950DFD2EA}"/>
                </a:ext>
              </a:extLst>
            </p:cNvPr>
            <p:cNvSpPr/>
            <p:nvPr/>
          </p:nvSpPr>
          <p:spPr>
            <a:xfrm>
              <a:off x="7491577" y="4686984"/>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 name="Hexagon 10">
              <a:extLst>
                <a:ext uri="{FF2B5EF4-FFF2-40B4-BE49-F238E27FC236}">
                  <a16:creationId xmlns:a16="http://schemas.microsoft.com/office/drawing/2014/main" id="{2354B249-77BC-E556-5389-994209D0C21C}"/>
                </a:ext>
              </a:extLst>
            </p:cNvPr>
            <p:cNvSpPr/>
            <p:nvPr/>
          </p:nvSpPr>
          <p:spPr>
            <a:xfrm>
              <a:off x="7876032" y="4061113"/>
              <a:ext cx="2283968" cy="1969178"/>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2" name="Hexagon 11">
              <a:extLst>
                <a:ext uri="{FF2B5EF4-FFF2-40B4-BE49-F238E27FC236}">
                  <a16:creationId xmlns:a16="http://schemas.microsoft.com/office/drawing/2014/main" id="{2C74AC2C-B25F-F570-ADC1-FD407F4FFC55}"/>
                </a:ext>
              </a:extLst>
            </p:cNvPr>
            <p:cNvSpPr/>
            <p:nvPr/>
          </p:nvSpPr>
          <p:spPr>
            <a:xfrm>
              <a:off x="7935366" y="4930465"/>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3" name="Freeform: Shape 12">
              <a:extLst>
                <a:ext uri="{FF2B5EF4-FFF2-40B4-BE49-F238E27FC236}">
                  <a16:creationId xmlns:a16="http://schemas.microsoft.com/office/drawing/2014/main" id="{E7970386-26F5-7914-C91D-26A456F2D4F6}"/>
                </a:ext>
              </a:extLst>
            </p:cNvPr>
            <p:cNvSpPr/>
            <p:nvPr/>
          </p:nvSpPr>
          <p:spPr>
            <a:xfrm>
              <a:off x="3984345" y="1903601"/>
              <a:ext cx="2283968" cy="1969178"/>
            </a:xfrm>
            <a:custGeom>
              <a:avLst/>
              <a:gdLst>
                <a:gd name="connsiteX0" fmla="*/ 0 w 2283968"/>
                <a:gd name="connsiteY0" fmla="*/ 984589 h 1969178"/>
                <a:gd name="connsiteX1" fmla="*/ 492295 w 2283968"/>
                <a:gd name="connsiteY1" fmla="*/ 0 h 1969178"/>
                <a:gd name="connsiteX2" fmla="*/ 1791674 w 2283968"/>
                <a:gd name="connsiteY2" fmla="*/ 0 h 1969178"/>
                <a:gd name="connsiteX3" fmla="*/ 2283968 w 2283968"/>
                <a:gd name="connsiteY3" fmla="*/ 984589 h 1969178"/>
                <a:gd name="connsiteX4" fmla="*/ 1791674 w 2283968"/>
                <a:gd name="connsiteY4" fmla="*/ 1969178 h 1969178"/>
                <a:gd name="connsiteX5" fmla="*/ 492295 w 2283968"/>
                <a:gd name="connsiteY5" fmla="*/ 1969178 h 1969178"/>
                <a:gd name="connsiteX6" fmla="*/ 0 w 2283968"/>
                <a:gd name="connsiteY6" fmla="*/ 984589 h 196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3968" h="1969178">
                  <a:moveTo>
                    <a:pt x="0" y="984589"/>
                  </a:moveTo>
                  <a:lnTo>
                    <a:pt x="492295" y="0"/>
                  </a:lnTo>
                  <a:lnTo>
                    <a:pt x="1791674" y="0"/>
                  </a:lnTo>
                  <a:lnTo>
                    <a:pt x="2283968" y="984589"/>
                  </a:lnTo>
                  <a:lnTo>
                    <a:pt x="1791674" y="1969178"/>
                  </a:lnTo>
                  <a:lnTo>
                    <a:pt x="492295" y="1969178"/>
                  </a:lnTo>
                  <a:lnTo>
                    <a:pt x="0" y="984589"/>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anchor="ctr" anchorCtr="0">
              <a:noAutofit/>
            </a:bodyPr>
            <a:lstStyle/>
            <a:p>
              <a:pPr marL="0" lvl="0" indent="0" algn="ctr" defTabSz="2400300">
                <a:lnSpc>
                  <a:spcPct val="90000"/>
                </a:lnSpc>
                <a:spcBef>
                  <a:spcPct val="0"/>
                </a:spcBef>
                <a:spcAft>
                  <a:spcPct val="35000"/>
                </a:spcAft>
                <a:buNone/>
              </a:pPr>
              <a:endParaRPr lang="en-IN" sz="5400" kern="1200"/>
            </a:p>
          </p:txBody>
        </p:sp>
        <p:sp>
          <p:nvSpPr>
            <p:cNvPr id="14" name="Hexagon 13">
              <a:extLst>
                <a:ext uri="{FF2B5EF4-FFF2-40B4-BE49-F238E27FC236}">
                  <a16:creationId xmlns:a16="http://schemas.microsoft.com/office/drawing/2014/main" id="{B6C9B475-875F-ADA4-99D0-B6E0A539B940}"/>
                </a:ext>
              </a:extLst>
            </p:cNvPr>
            <p:cNvSpPr/>
            <p:nvPr/>
          </p:nvSpPr>
          <p:spPr>
            <a:xfrm>
              <a:off x="5532729" y="1946262"/>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Hexagon 14">
              <a:extLst>
                <a:ext uri="{FF2B5EF4-FFF2-40B4-BE49-F238E27FC236}">
                  <a16:creationId xmlns:a16="http://schemas.microsoft.com/office/drawing/2014/main" id="{FA420FB8-23BD-6686-6167-EA4DA7772681}"/>
                </a:ext>
              </a:extLst>
            </p:cNvPr>
            <p:cNvSpPr/>
            <p:nvPr/>
          </p:nvSpPr>
          <p:spPr>
            <a:xfrm>
              <a:off x="5930188" y="827706"/>
              <a:ext cx="2283968" cy="1969178"/>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6" name="Hexagon 15">
              <a:extLst>
                <a:ext uri="{FF2B5EF4-FFF2-40B4-BE49-F238E27FC236}">
                  <a16:creationId xmlns:a16="http://schemas.microsoft.com/office/drawing/2014/main" id="{F40260B6-A08B-4A9E-44E2-5035B934E934}"/>
                </a:ext>
              </a:extLst>
            </p:cNvPr>
            <p:cNvSpPr/>
            <p:nvPr/>
          </p:nvSpPr>
          <p:spPr>
            <a:xfrm>
              <a:off x="5997651" y="1692376"/>
              <a:ext cx="267411" cy="230474"/>
            </a:xfrm>
            <a:prstGeom prst="hexagon">
              <a:avLst>
                <a:gd name="adj" fmla="val 25000"/>
                <a:gd name="vf" fmla="val 115470"/>
              </a:avLst>
            </a:prstGeom>
            <a:grpFill/>
            <a:ln>
              <a:no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17" name="TextBox 16">
            <a:extLst>
              <a:ext uri="{FF2B5EF4-FFF2-40B4-BE49-F238E27FC236}">
                <a16:creationId xmlns:a16="http://schemas.microsoft.com/office/drawing/2014/main" id="{D3A265F9-8CEB-EB2C-AF2B-23BC2BDE0FA2}"/>
              </a:ext>
            </a:extLst>
          </p:cNvPr>
          <p:cNvSpPr txBox="1"/>
          <p:nvPr/>
        </p:nvSpPr>
        <p:spPr>
          <a:xfrm>
            <a:off x="5151863" y="1761394"/>
            <a:ext cx="6144322" cy="187743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ADVANCEMENTS  IN  MUSIC  MOOD CLASSIFICATION  MACHINE  LEARNING TECHNIQUES  FOR  MOOD  ANALYSIS</a:t>
            </a:r>
            <a:endParaRPr lang="en-IN" sz="24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885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51F99C-5AD0-8532-7B87-64FDD1DE0193}"/>
              </a:ext>
            </a:extLst>
          </p:cNvPr>
          <p:cNvSpPr txBox="1"/>
          <p:nvPr/>
        </p:nvSpPr>
        <p:spPr>
          <a:xfrm>
            <a:off x="3380014" y="284555"/>
            <a:ext cx="5627914" cy="584775"/>
          </a:xfrm>
          <a:prstGeom prst="rect">
            <a:avLst/>
          </a:prstGeom>
          <a:solidFill>
            <a:schemeClr val="tx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1" dirty="0">
                <a:solidFill>
                  <a:schemeClr val="bg2"/>
                </a:solidFill>
                <a:latin typeface="Times New Roman" panose="02020603050405020304" pitchFamily="18" charset="0"/>
                <a:cs typeface="Times New Roman" panose="02020603050405020304" pitchFamily="18" charset="0"/>
              </a:rPr>
              <a:t>ABSTRACT</a:t>
            </a:r>
            <a:endParaRPr kumimoji="0" lang="en-IN" sz="3200" b="1" i="0" u="none" strike="noStrike" kern="1200" cap="none" spc="0" normalizeH="0" baseline="0" noProof="0" dirty="0">
              <a:ln>
                <a:noFill/>
              </a:ln>
              <a:solidFill>
                <a:schemeClr val="bg2"/>
              </a:solidFill>
              <a:effectLst/>
              <a:uLnTx/>
              <a:uFillTx/>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D67A4318-CC35-8B98-3E1D-2BA27AC0CEC5}"/>
              </a:ext>
            </a:extLst>
          </p:cNvPr>
          <p:cNvSpPr txBox="1"/>
          <p:nvPr/>
        </p:nvSpPr>
        <p:spPr>
          <a:xfrm>
            <a:off x="1153886" y="1393371"/>
            <a:ext cx="9786257" cy="4093428"/>
          </a:xfrm>
          <a:prstGeom prst="rect">
            <a:avLst/>
          </a:prstGeom>
          <a:noFill/>
        </p:spPr>
        <p:txBody>
          <a:bodyPr wrap="square" rtlCol="0">
            <a:spAutoFit/>
          </a:bodyPr>
          <a:lstStyle/>
          <a:p>
            <a:pPr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Most of the existing music recommendation systems use collaborative or content based recommendation engines. However, the music choice of a user is not only dependent to the historical preferences or music contents. But also dependent to the mood of that user. An emotion based music recommendation framework that learns the emotion of a user from the signals obtained via images. </a:t>
            </a:r>
            <a:r>
              <a:rPr lang="en-IN" sz="2000" dirty="0">
                <a:latin typeface="Times New Roman" panose="02020603050405020304" pitchFamily="18" charset="0"/>
                <a:ea typeface="Calibri" panose="020F0502020204030204" pitchFamily="34" charset="0"/>
                <a:cs typeface="Times New Roman" panose="02020603050405020304" pitchFamily="18" charset="0"/>
              </a:rPr>
              <a:t>W</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 are using images with faces to detect user mood and to recommend music. As faces are the best option to predict mood of the users. We tried a lot to search sensors data to classify mood but on internet no such datasets are available. In this application  uploading images and detecting the emotion of the user.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15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10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B2A8D1-50D5-D809-7163-FCE895EFEB45}"/>
              </a:ext>
            </a:extLst>
          </p:cNvPr>
          <p:cNvSpPr txBox="1"/>
          <p:nvPr/>
        </p:nvSpPr>
        <p:spPr>
          <a:xfrm>
            <a:off x="3863340" y="342900"/>
            <a:ext cx="5017770"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EXISTING SYSTEM</a:t>
            </a:r>
          </a:p>
        </p:txBody>
      </p:sp>
      <p:sp>
        <p:nvSpPr>
          <p:cNvPr id="4" name="TextBox 3">
            <a:extLst>
              <a:ext uri="{FF2B5EF4-FFF2-40B4-BE49-F238E27FC236}">
                <a16:creationId xmlns:a16="http://schemas.microsoft.com/office/drawing/2014/main" id="{8826BA42-2B22-747C-93E3-48F9F7516883}"/>
              </a:ext>
            </a:extLst>
          </p:cNvPr>
          <p:cNvSpPr txBox="1"/>
          <p:nvPr/>
        </p:nvSpPr>
        <p:spPr>
          <a:xfrm>
            <a:off x="1291590" y="1582341"/>
            <a:ext cx="9864090" cy="2585323"/>
          </a:xfrm>
          <a:prstGeom prst="rect">
            <a:avLst/>
          </a:prstGeom>
          <a:noFill/>
        </p:spPr>
        <p:txBody>
          <a:bodyPr wrap="square" rtlCol="0">
            <a:spAutoFit/>
          </a:bodyPr>
          <a:lstStyle/>
          <a:p>
            <a:pPr algn="just">
              <a:lnSpc>
                <a:spcPct val="150000"/>
              </a:lnSpc>
            </a:pPr>
            <a:r>
              <a:rPr lang="en-IN" sz="24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Most of the existing music recommendation systems use collaborative or content based recommendation engines. However, the music choice of a user is not only dependent to the historical preferences or music contents. But also dependent to the mood of that user.</a:t>
            </a:r>
          </a:p>
          <a:p>
            <a:endParaRPr lang="en-IN" dirty="0"/>
          </a:p>
        </p:txBody>
      </p:sp>
    </p:spTree>
    <p:extLst>
      <p:ext uri="{BB962C8B-B14F-4D97-AF65-F5344CB8AC3E}">
        <p14:creationId xmlns:p14="http://schemas.microsoft.com/office/powerpoint/2010/main" val="1206982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E934164-9402-335F-DF9A-50C0C7E17AE9}"/>
              </a:ext>
            </a:extLst>
          </p:cNvPr>
          <p:cNvSpPr/>
          <p:nvPr/>
        </p:nvSpPr>
        <p:spPr>
          <a:xfrm rot="16200000">
            <a:off x="10401300" y="-274320"/>
            <a:ext cx="2228850" cy="8801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6BB01366-0883-9B33-2567-0959556F0710}"/>
              </a:ext>
            </a:extLst>
          </p:cNvPr>
          <p:cNvSpPr/>
          <p:nvPr/>
        </p:nvSpPr>
        <p:spPr>
          <a:xfrm rot="16200000">
            <a:off x="5715" y="5909310"/>
            <a:ext cx="1314450" cy="8801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6F307894-F279-FD5D-E927-85ECC4D91F7F}"/>
              </a:ext>
            </a:extLst>
          </p:cNvPr>
          <p:cNvSpPr txBox="1"/>
          <p:nvPr/>
        </p:nvSpPr>
        <p:spPr>
          <a:xfrm>
            <a:off x="4217670" y="297180"/>
            <a:ext cx="4217670"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DISADVANTAGES</a:t>
            </a:r>
          </a:p>
        </p:txBody>
      </p:sp>
      <p:sp>
        <p:nvSpPr>
          <p:cNvPr id="5" name="TextBox 4">
            <a:extLst>
              <a:ext uri="{FF2B5EF4-FFF2-40B4-BE49-F238E27FC236}">
                <a16:creationId xmlns:a16="http://schemas.microsoft.com/office/drawing/2014/main" id="{FB8F8B98-3A02-5482-1461-454CB7C14323}"/>
              </a:ext>
            </a:extLst>
          </p:cNvPr>
          <p:cNvSpPr txBox="1"/>
          <p:nvPr/>
        </p:nvSpPr>
        <p:spPr>
          <a:xfrm>
            <a:off x="1369695" y="1680210"/>
            <a:ext cx="9452610" cy="2831544"/>
          </a:xfrm>
          <a:prstGeom prst="rect">
            <a:avLst/>
          </a:prstGeom>
          <a:noFill/>
        </p:spPr>
        <p:txBody>
          <a:bodyPr wrap="square" rtlCol="0">
            <a:spAutoFit/>
          </a:bodyPr>
          <a:lstStyle/>
          <a:p>
            <a:pPr marL="342900" indent="-342900" algn="just">
              <a:lnSpc>
                <a:spcPct val="150000"/>
              </a:lnSpc>
              <a:spcAft>
                <a:spcPts val="1000"/>
              </a:spcAft>
              <a:buFont typeface="Arial" panose="020B0604020202020204" pitchFamily="34" charset="0"/>
              <a:buChar char="•"/>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User is not only dependent to the historical preferences or music contents But also dependent to the mood of that user.</a:t>
            </a:r>
          </a:p>
          <a:p>
            <a:pPr marL="342900" indent="-342900" algn="just">
              <a:lnSpc>
                <a:spcPct val="150000"/>
              </a:lnSpc>
              <a:spcAft>
                <a:spcPts val="1000"/>
              </a:spcAft>
              <a:buFont typeface="Arial" panose="020B0604020202020204" pitchFamily="34" charset="0"/>
              <a:buChar char="•"/>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Choice is depend various factors.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50052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tx1">
                <a:lumMod val="8500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D6C2CD-B0EF-CE34-684A-D2DB15D2E094}"/>
              </a:ext>
            </a:extLst>
          </p:cNvPr>
          <p:cNvSpPr txBox="1"/>
          <p:nvPr/>
        </p:nvSpPr>
        <p:spPr>
          <a:xfrm>
            <a:off x="3964305" y="240030"/>
            <a:ext cx="4263390"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PROPOSED SYSTEM</a:t>
            </a:r>
          </a:p>
        </p:txBody>
      </p:sp>
      <p:sp>
        <p:nvSpPr>
          <p:cNvPr id="3" name="TextBox 2">
            <a:extLst>
              <a:ext uri="{FF2B5EF4-FFF2-40B4-BE49-F238E27FC236}">
                <a16:creationId xmlns:a16="http://schemas.microsoft.com/office/drawing/2014/main" id="{A99D234B-175A-8A8F-E172-6D900138B83D}"/>
              </a:ext>
            </a:extLst>
          </p:cNvPr>
          <p:cNvSpPr txBox="1"/>
          <p:nvPr/>
        </p:nvSpPr>
        <p:spPr>
          <a:xfrm>
            <a:off x="855345" y="1166842"/>
            <a:ext cx="10481310" cy="4524315"/>
          </a:xfrm>
          <a:prstGeom prst="rect">
            <a:avLst/>
          </a:prstGeom>
          <a:noFill/>
        </p:spPr>
        <p:txBody>
          <a:bodyPr wrap="square" rtlCol="0">
            <a:spAutoFit/>
          </a:bodyPr>
          <a:lstStyle/>
          <a:p>
            <a:pPr algn="just"/>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proposes an emotion based music recommendation framework that learns the emotion of a user from the signals obtained via images. We are using images with faces to detect user mood and to recommend music. As faces are the best option to predict mood of the users. We tried a lot to search sensors data to classify mood but on internet no such datasets are available.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ploading image and then using python OPENCV and pre-processing image to extract features and then this features is applied on SVM/Deep Learning Neural Network Training Model to predict moods of user and based on user mood all songs will be detected and shown in drop down box and user can select any song and play. The results of comprehensive experiments on real data confirm the accuracy of the proposed emotion classification system that can be integrated to any recommendation engine.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996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descr="Music notes with solid fill">
            <a:extLst>
              <a:ext uri="{FF2B5EF4-FFF2-40B4-BE49-F238E27FC236}">
                <a16:creationId xmlns:a16="http://schemas.microsoft.com/office/drawing/2014/main" id="{5880325C-55F3-502F-6BD3-7B4E16B942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5270" y="5429250"/>
            <a:ext cx="1116330" cy="1188720"/>
          </a:xfrm>
          <a:prstGeom prst="rect">
            <a:avLst/>
          </a:prstGeom>
        </p:spPr>
      </p:pic>
      <p:sp>
        <p:nvSpPr>
          <p:cNvPr id="12" name="TextBox 11">
            <a:extLst>
              <a:ext uri="{FF2B5EF4-FFF2-40B4-BE49-F238E27FC236}">
                <a16:creationId xmlns:a16="http://schemas.microsoft.com/office/drawing/2014/main" id="{78675F70-81ED-85B9-D860-5569F810642B}"/>
              </a:ext>
            </a:extLst>
          </p:cNvPr>
          <p:cNvSpPr txBox="1"/>
          <p:nvPr/>
        </p:nvSpPr>
        <p:spPr>
          <a:xfrm>
            <a:off x="4160520" y="320040"/>
            <a:ext cx="4194810"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ADAVANTAGES</a:t>
            </a:r>
          </a:p>
        </p:txBody>
      </p:sp>
      <p:sp>
        <p:nvSpPr>
          <p:cNvPr id="13" name="TextBox 12">
            <a:extLst>
              <a:ext uri="{FF2B5EF4-FFF2-40B4-BE49-F238E27FC236}">
                <a16:creationId xmlns:a16="http://schemas.microsoft.com/office/drawing/2014/main" id="{68045AD8-22CA-7653-8B1F-D9744A225A48}"/>
              </a:ext>
            </a:extLst>
          </p:cNvPr>
          <p:cNvSpPr txBox="1"/>
          <p:nvPr/>
        </p:nvSpPr>
        <p:spPr>
          <a:xfrm>
            <a:off x="1575435" y="1495485"/>
            <a:ext cx="9364980" cy="2841804"/>
          </a:xfrm>
          <a:prstGeom prst="rect">
            <a:avLst/>
          </a:prstGeom>
          <a:noFill/>
        </p:spPr>
        <p:txBody>
          <a:bodyPr wrap="square" rtlCol="0">
            <a:spAutoFit/>
          </a:bodyPr>
          <a:lstStyle/>
          <a:p>
            <a:pPr marL="342900" indent="-342900" algn="just">
              <a:lnSpc>
                <a:spcPct val="150000"/>
              </a:lnSpc>
              <a:spcAft>
                <a:spcPts val="1000"/>
              </a:spcAft>
              <a:buFont typeface="Arial" panose="020B0604020202020204" pitchFamily="34" charset="0"/>
              <a:buChar char="•"/>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emotion of a user from the signals obtained via faces in images.</a:t>
            </a:r>
          </a:p>
          <a:p>
            <a:pPr marL="342900" indent="-342900" algn="just">
              <a:lnSpc>
                <a:spcPct val="150000"/>
              </a:lnSpc>
              <a:spcAft>
                <a:spcPts val="1000"/>
              </a:spcAft>
              <a:buFont typeface="Arial" panose="020B0604020202020204" pitchFamily="34" charset="0"/>
              <a:buChar char="•"/>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Experiments on real data confirm the accuracy of the proposed emotion classification system that can be integrated to any recommendation engine.</a:t>
            </a:r>
            <a:r>
              <a:rPr lang="en-IN" sz="2400" b="1" u="sng"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14987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01C64C-EBDE-1F08-B470-DC4652532DE9}"/>
              </a:ext>
            </a:extLst>
          </p:cNvPr>
          <p:cNvSpPr txBox="1"/>
          <p:nvPr/>
        </p:nvSpPr>
        <p:spPr>
          <a:xfrm>
            <a:off x="2711767" y="411480"/>
            <a:ext cx="6768465" cy="584775"/>
          </a:xfrm>
          <a:prstGeom prst="rect">
            <a:avLst/>
          </a:prstGeom>
          <a:solidFill>
            <a:schemeClr val="bg2"/>
          </a:solid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SYSTEM  REQUIREMENTS</a:t>
            </a:r>
          </a:p>
        </p:txBody>
      </p:sp>
      <p:sp>
        <p:nvSpPr>
          <p:cNvPr id="3" name="TextBox 2">
            <a:extLst>
              <a:ext uri="{FF2B5EF4-FFF2-40B4-BE49-F238E27FC236}">
                <a16:creationId xmlns:a16="http://schemas.microsoft.com/office/drawing/2014/main" id="{FA6961E3-E54C-79BF-8DDE-0017ED13D332}"/>
              </a:ext>
            </a:extLst>
          </p:cNvPr>
          <p:cNvSpPr txBox="1"/>
          <p:nvPr/>
        </p:nvSpPr>
        <p:spPr>
          <a:xfrm>
            <a:off x="1108710" y="1725930"/>
            <a:ext cx="9281160" cy="3447098"/>
          </a:xfrm>
          <a:prstGeom prst="rect">
            <a:avLst/>
          </a:prstGeom>
          <a:noFill/>
        </p:spPr>
        <p:txBody>
          <a:bodyPr wrap="square" rtlCol="0">
            <a:spAutoFit/>
          </a:bodyPr>
          <a:lstStyle/>
          <a:p>
            <a:r>
              <a:rPr lang="en-IN" sz="2600" b="1" u="sng" dirty="0">
                <a:solidFill>
                  <a:schemeClr val="bg1">
                    <a:lumMod val="75000"/>
                    <a:lumOff val="25000"/>
                  </a:schemeClr>
                </a:solidFill>
                <a:latin typeface="Times New Roman" panose="02020603050405020304" pitchFamily="18" charset="0"/>
                <a:cs typeface="Times New Roman" panose="02020603050405020304" pitchFamily="18" charset="0"/>
              </a:rPr>
              <a:t>SOFTWARE REQUIREMENTS:</a:t>
            </a:r>
          </a:p>
          <a:p>
            <a:pPr marL="457200" indent="-4572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Coding language : Python.</a:t>
            </a:r>
          </a:p>
          <a:p>
            <a:pPr marL="457200" indent="-4572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Version 	          : 3.7.1.</a:t>
            </a:r>
          </a:p>
          <a:p>
            <a:pPr marL="457200" indent="-4572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Libraries	          : Open-CV, </a:t>
            </a:r>
            <a:r>
              <a:rPr lang="en-IN" sz="2400" dirty="0" err="1">
                <a:solidFill>
                  <a:schemeClr val="bg1">
                    <a:lumMod val="75000"/>
                    <a:lumOff val="25000"/>
                  </a:schemeClr>
                </a:solidFill>
                <a:latin typeface="Times New Roman" panose="02020603050405020304" pitchFamily="18" charset="0"/>
                <a:cs typeface="Times New Roman" panose="02020603050405020304" pitchFamily="18" charset="0"/>
              </a:rPr>
              <a:t>keras</a:t>
            </a: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 NumPy.</a:t>
            </a:r>
          </a:p>
          <a:p>
            <a:endParaRPr lang="en-IN" sz="2400" dirty="0">
              <a:solidFill>
                <a:schemeClr val="bg1">
                  <a:lumMod val="75000"/>
                  <a:lumOff val="25000"/>
                </a:schemeClr>
              </a:solidFill>
              <a:latin typeface="Times New Roman" panose="02020603050405020304" pitchFamily="18" charset="0"/>
              <a:cs typeface="Times New Roman" panose="02020603050405020304" pitchFamily="18" charset="0"/>
            </a:endParaRPr>
          </a:p>
          <a:p>
            <a:r>
              <a:rPr lang="en-IN" sz="2400" b="1" u="sng" dirty="0">
                <a:solidFill>
                  <a:schemeClr val="bg1">
                    <a:lumMod val="75000"/>
                    <a:lumOff val="25000"/>
                  </a:schemeClr>
                </a:solidFill>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System 	          : Intel Core i5.</a:t>
            </a:r>
          </a:p>
          <a:p>
            <a:pPr marL="342900" indent="-3429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Hard Disk	          : 500GB.</a:t>
            </a:r>
          </a:p>
          <a:p>
            <a:pPr marL="342900" indent="-342900">
              <a:buFont typeface="Arial" panose="020B0604020202020204" pitchFamily="34" charset="0"/>
              <a:buChar char="•"/>
            </a:pPr>
            <a:r>
              <a:rPr lang="en-IN" sz="2400" dirty="0">
                <a:solidFill>
                  <a:schemeClr val="bg1">
                    <a:lumMod val="75000"/>
                    <a:lumOff val="25000"/>
                  </a:schemeClr>
                </a:solidFill>
                <a:latin typeface="Times New Roman" panose="02020603050405020304" pitchFamily="18" charset="0"/>
                <a:cs typeface="Times New Roman" panose="02020603050405020304" pitchFamily="18" charset="0"/>
              </a:rPr>
              <a:t>RAM 	          : 16GB. </a:t>
            </a:r>
          </a:p>
        </p:txBody>
      </p:sp>
    </p:spTree>
    <p:extLst>
      <p:ext uri="{BB962C8B-B14F-4D97-AF65-F5344CB8AC3E}">
        <p14:creationId xmlns:p14="http://schemas.microsoft.com/office/powerpoint/2010/main" val="1491768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374C8D-D0FE-FD56-5BDE-40BCD6F0F5B9}"/>
              </a:ext>
            </a:extLst>
          </p:cNvPr>
          <p:cNvSpPr txBox="1"/>
          <p:nvPr/>
        </p:nvSpPr>
        <p:spPr>
          <a:xfrm>
            <a:off x="3298371" y="250371"/>
            <a:ext cx="590005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0057BDB-89C0-E7A8-EE0A-5754F0B794A9}"/>
              </a:ext>
            </a:extLst>
          </p:cNvPr>
          <p:cNvPicPr>
            <a:picLocks noChangeAspect="1"/>
          </p:cNvPicPr>
          <p:nvPr/>
        </p:nvPicPr>
        <p:blipFill>
          <a:blip r:embed="rId2"/>
          <a:stretch>
            <a:fillRect/>
          </a:stretch>
        </p:blipFill>
        <p:spPr>
          <a:xfrm>
            <a:off x="1816237" y="764817"/>
            <a:ext cx="8559526" cy="5328366"/>
          </a:xfrm>
          <a:prstGeom prst="rect">
            <a:avLst/>
          </a:prstGeom>
        </p:spPr>
      </p:pic>
      <p:pic>
        <p:nvPicPr>
          <p:cNvPr id="6" name="Picture 5">
            <a:extLst>
              <a:ext uri="{FF2B5EF4-FFF2-40B4-BE49-F238E27FC236}">
                <a16:creationId xmlns:a16="http://schemas.microsoft.com/office/drawing/2014/main" id="{E7086383-667C-0F19-B8DD-F98332D82C1B}"/>
              </a:ext>
            </a:extLst>
          </p:cNvPr>
          <p:cNvPicPr>
            <a:picLocks noChangeAspect="1"/>
          </p:cNvPicPr>
          <p:nvPr/>
        </p:nvPicPr>
        <p:blipFill>
          <a:blip r:embed="rId3"/>
          <a:stretch>
            <a:fillRect/>
          </a:stretch>
        </p:blipFill>
        <p:spPr>
          <a:xfrm>
            <a:off x="1968637" y="1080407"/>
            <a:ext cx="8559526" cy="5429250"/>
          </a:xfrm>
          <a:prstGeom prst="rect">
            <a:avLst/>
          </a:prstGeom>
        </p:spPr>
      </p:pic>
    </p:spTree>
    <p:extLst>
      <p:ext uri="{BB962C8B-B14F-4D97-AF65-F5344CB8AC3E}">
        <p14:creationId xmlns:p14="http://schemas.microsoft.com/office/powerpoint/2010/main" val="3438734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00000">
              <a:schemeClr val="bg2">
                <a:tint val="93000"/>
                <a:satMod val="150000"/>
                <a:shade val="98000"/>
                <a:lumMod val="102000"/>
                <a:alpha val="59000"/>
              </a:schemeClr>
            </a:gs>
            <a:gs pos="100000">
              <a:schemeClr val="bg2">
                <a:tint val="98000"/>
                <a:satMod val="130000"/>
                <a:shade val="90000"/>
                <a:lumMod val="103000"/>
              </a:schemeClr>
            </a:gs>
          </a:gsLst>
          <a:lin ang="5400000" scaled="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62714A-71E5-EFFE-CE85-61774D269551}"/>
              </a:ext>
            </a:extLst>
          </p:cNvPr>
          <p:cNvSpPr txBox="1"/>
          <p:nvPr/>
        </p:nvSpPr>
        <p:spPr>
          <a:xfrm>
            <a:off x="3864428" y="261257"/>
            <a:ext cx="5312229"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UML DIAGRAMS</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1BD2F69-C5C1-B3D7-8D86-500E449A6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924" y="1628094"/>
            <a:ext cx="9146790" cy="2824163"/>
          </a:xfrm>
          <a:prstGeom prst="rect">
            <a:avLst/>
          </a:prstGeom>
        </p:spPr>
      </p:pic>
      <p:sp>
        <p:nvSpPr>
          <p:cNvPr id="5" name="TextBox 4">
            <a:extLst>
              <a:ext uri="{FF2B5EF4-FFF2-40B4-BE49-F238E27FC236}">
                <a16:creationId xmlns:a16="http://schemas.microsoft.com/office/drawing/2014/main" id="{2E653995-9C36-727F-E3B4-5F5CFF8E6D5C}"/>
              </a:ext>
            </a:extLst>
          </p:cNvPr>
          <p:cNvSpPr txBox="1"/>
          <p:nvPr/>
        </p:nvSpPr>
        <p:spPr>
          <a:xfrm>
            <a:off x="3864428" y="4963886"/>
            <a:ext cx="5029201"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Fig: Class Diagram</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138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73000">
              <a:srgbClr val="9CA5B3"/>
            </a:gs>
            <a:gs pos="100000">
              <a:schemeClr val="bg2">
                <a:tint val="93000"/>
                <a:satMod val="150000"/>
                <a:shade val="98000"/>
                <a:lumMod val="0"/>
                <a:lumOff val="100000"/>
              </a:schemeClr>
            </a:gs>
            <a:gs pos="50000">
              <a:schemeClr val="bg2">
                <a:tint val="98000"/>
                <a:satMod val="130000"/>
                <a:shade val="90000"/>
                <a:lumMod val="103000"/>
                <a:alpha val="64000"/>
              </a:schemeClr>
            </a:gs>
          </a:gsLst>
          <a:lin ang="54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3C91E2-186F-50DF-FE01-1FDCC9C1FB0C}"/>
              </a:ext>
            </a:extLst>
          </p:cNvPr>
          <p:cNvPicPr>
            <a:picLocks noChangeAspect="1"/>
          </p:cNvPicPr>
          <p:nvPr/>
        </p:nvPicPr>
        <p:blipFill>
          <a:blip r:embed="rId2"/>
          <a:srcRect/>
          <a:stretch>
            <a:fillRect/>
          </a:stretch>
        </p:blipFill>
        <p:spPr>
          <a:xfrm>
            <a:off x="3709865" y="238124"/>
            <a:ext cx="5450463" cy="5357133"/>
          </a:xfrm>
          <a:prstGeom prst="rect">
            <a:avLst/>
          </a:prstGeom>
          <a:noFill/>
          <a:ln w="9525">
            <a:noFill/>
            <a:miter lim="800000"/>
            <a:headEnd/>
            <a:tailEnd/>
          </a:ln>
        </p:spPr>
      </p:pic>
      <p:sp>
        <p:nvSpPr>
          <p:cNvPr id="4" name="TextBox 3">
            <a:extLst>
              <a:ext uri="{FF2B5EF4-FFF2-40B4-BE49-F238E27FC236}">
                <a16:creationId xmlns:a16="http://schemas.microsoft.com/office/drawing/2014/main" id="{239FF0BB-C286-DBB9-BBBF-0FB07EFA6B1E}"/>
              </a:ext>
            </a:extLst>
          </p:cNvPr>
          <p:cNvSpPr txBox="1"/>
          <p:nvPr/>
        </p:nvSpPr>
        <p:spPr>
          <a:xfrm>
            <a:off x="5344885" y="5812972"/>
            <a:ext cx="286294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Fig: Use case Diagram</a:t>
            </a:r>
          </a:p>
        </p:txBody>
      </p:sp>
    </p:spTree>
    <p:extLst>
      <p:ext uri="{BB962C8B-B14F-4D97-AF65-F5344CB8AC3E}">
        <p14:creationId xmlns:p14="http://schemas.microsoft.com/office/powerpoint/2010/main" val="624870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30000">
              <a:schemeClr val="bg2">
                <a:tint val="93000"/>
                <a:satMod val="150000"/>
                <a:shade val="98000"/>
                <a:alpha val="80000"/>
                <a:lumMod val="80000"/>
                <a:lumOff val="20000"/>
              </a:schemeClr>
            </a:gs>
            <a:gs pos="10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C8E3CF-CBA3-2543-6327-F8E54A3DE5D8}"/>
              </a:ext>
            </a:extLst>
          </p:cNvPr>
          <p:cNvPicPr>
            <a:picLocks noChangeAspect="1"/>
          </p:cNvPicPr>
          <p:nvPr/>
        </p:nvPicPr>
        <p:blipFill>
          <a:blip r:embed="rId2"/>
          <a:srcRect/>
          <a:stretch>
            <a:fillRect/>
          </a:stretch>
        </p:blipFill>
        <p:spPr>
          <a:xfrm>
            <a:off x="2314602" y="337207"/>
            <a:ext cx="8233655" cy="5007927"/>
          </a:xfrm>
          <a:prstGeom prst="rect">
            <a:avLst/>
          </a:prstGeom>
          <a:noFill/>
          <a:ln w="9525">
            <a:noFill/>
            <a:miter lim="800000"/>
            <a:headEnd/>
            <a:tailEnd/>
          </a:ln>
        </p:spPr>
      </p:pic>
      <p:sp>
        <p:nvSpPr>
          <p:cNvPr id="4" name="TextBox 3">
            <a:extLst>
              <a:ext uri="{FF2B5EF4-FFF2-40B4-BE49-F238E27FC236}">
                <a16:creationId xmlns:a16="http://schemas.microsoft.com/office/drawing/2014/main" id="{1851DD8C-EC44-8DFF-5813-1C5E36EFD49F}"/>
              </a:ext>
            </a:extLst>
          </p:cNvPr>
          <p:cNvSpPr txBox="1"/>
          <p:nvPr/>
        </p:nvSpPr>
        <p:spPr>
          <a:xfrm>
            <a:off x="3124200" y="5834743"/>
            <a:ext cx="6770914"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Sequence Diagram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71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64000">
              <a:schemeClr val="tx1">
                <a:lumMod val="85000"/>
              </a:schemeClr>
            </a:gs>
          </a:gsLst>
          <a:lin ang="5400000" scaled="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EAA981-BA6B-8361-4176-D4731772D928}"/>
              </a:ext>
            </a:extLst>
          </p:cNvPr>
          <p:cNvSpPr txBox="1"/>
          <p:nvPr/>
        </p:nvSpPr>
        <p:spPr>
          <a:xfrm>
            <a:off x="4093028" y="304799"/>
            <a:ext cx="4669971" cy="584775"/>
          </a:xfrm>
          <a:prstGeom prst="rect">
            <a:avLst/>
          </a:prstGeom>
          <a:noFill/>
        </p:spPr>
        <p:txBody>
          <a:bodyPr wrap="square" rtlCol="0">
            <a:spAutoFit/>
          </a:bodyPr>
          <a:lstStyle/>
          <a:p>
            <a:pPr algn="ctr"/>
            <a:r>
              <a:rPr lang="en-US" sz="3200" b="1" dirty="0">
                <a:solidFill>
                  <a:schemeClr val="bg2">
                    <a:lumMod val="50000"/>
                  </a:schemeClr>
                </a:solidFill>
                <a:latin typeface="Times New Roman" panose="02020603050405020304" pitchFamily="18" charset="0"/>
                <a:cs typeface="Times New Roman" panose="02020603050405020304" pitchFamily="18" charset="0"/>
              </a:rPr>
              <a:t>OUTPUT SCREEN</a:t>
            </a:r>
            <a:endParaRPr lang="en-IN" sz="3200" b="1"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39D772E-AC31-1472-5F9A-03A90D7BD14F}"/>
              </a:ext>
            </a:extLst>
          </p:cNvPr>
          <p:cNvPicPr>
            <a:picLocks noChangeAspect="1"/>
          </p:cNvPicPr>
          <p:nvPr/>
        </p:nvPicPr>
        <p:blipFill>
          <a:blip r:embed="rId2"/>
          <a:stretch>
            <a:fillRect/>
          </a:stretch>
        </p:blipFill>
        <p:spPr>
          <a:xfrm>
            <a:off x="398236" y="1558930"/>
            <a:ext cx="5599793" cy="3150258"/>
          </a:xfrm>
          <a:prstGeom prst="rect">
            <a:avLst/>
          </a:prstGeom>
          <a:noFill/>
          <a:ln>
            <a:noFill/>
          </a:ln>
        </p:spPr>
      </p:pic>
      <p:pic>
        <p:nvPicPr>
          <p:cNvPr id="4" name="Picture 3">
            <a:extLst>
              <a:ext uri="{FF2B5EF4-FFF2-40B4-BE49-F238E27FC236}">
                <a16:creationId xmlns:a16="http://schemas.microsoft.com/office/drawing/2014/main" id="{724BD8B7-B94F-D028-1E20-B162A2A66E9B}"/>
              </a:ext>
            </a:extLst>
          </p:cNvPr>
          <p:cNvPicPr>
            <a:picLocks noChangeAspect="1"/>
          </p:cNvPicPr>
          <p:nvPr/>
        </p:nvPicPr>
        <p:blipFill>
          <a:blip r:embed="rId3"/>
          <a:stretch>
            <a:fillRect/>
          </a:stretch>
        </p:blipFill>
        <p:spPr>
          <a:xfrm>
            <a:off x="6183086" y="1552807"/>
            <a:ext cx="5610678" cy="3156381"/>
          </a:xfrm>
          <a:prstGeom prst="rect">
            <a:avLst/>
          </a:prstGeom>
          <a:noFill/>
          <a:ln>
            <a:noFill/>
          </a:ln>
        </p:spPr>
      </p:pic>
    </p:spTree>
    <p:extLst>
      <p:ext uri="{BB962C8B-B14F-4D97-AF65-F5344CB8AC3E}">
        <p14:creationId xmlns:p14="http://schemas.microsoft.com/office/powerpoint/2010/main" val="1455518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0">
              <a:schemeClr val="bg2">
                <a:tint val="93000"/>
                <a:satMod val="150000"/>
                <a:shade val="98000"/>
                <a:lumMod val="102000"/>
              </a:schemeClr>
            </a:gs>
            <a:gs pos="10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C4993C-127F-75BB-B792-8EC73916EB10}"/>
              </a:ext>
            </a:extLst>
          </p:cNvPr>
          <p:cNvSpPr txBox="1"/>
          <p:nvPr/>
        </p:nvSpPr>
        <p:spPr>
          <a:xfrm>
            <a:off x="4093028" y="468085"/>
            <a:ext cx="4517572" cy="584775"/>
          </a:xfrm>
          <a:prstGeom prst="rect">
            <a:avLst/>
          </a:prstGeom>
          <a:solidFill>
            <a:schemeClr val="tx1"/>
          </a:solidFill>
        </p:spPr>
        <p:txBody>
          <a:bodyPr wrap="square" rtlCol="0">
            <a:spAutoFit/>
          </a:bodyPr>
          <a:lstStyle/>
          <a:p>
            <a:pPr algn="ctr"/>
            <a:r>
              <a:rPr lang="en-US" sz="3200" b="1" dirty="0">
                <a:solidFill>
                  <a:schemeClr val="bg2">
                    <a:lumMod val="75000"/>
                  </a:schemeClr>
                </a:solidFill>
                <a:latin typeface="Times New Roman" panose="02020603050405020304" pitchFamily="18" charset="0"/>
                <a:cs typeface="Times New Roman" panose="02020603050405020304" pitchFamily="18" charset="0"/>
              </a:rPr>
              <a:t>CONCLUSION</a:t>
            </a:r>
            <a:endParaRPr lang="en-IN" sz="3200" b="1"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58E74111-81CC-468F-B2F9-3F5DE2F11BDB}"/>
              </a:ext>
            </a:extLst>
          </p:cNvPr>
          <p:cNvSpPr>
            <a:spLocks noChangeArrowheads="1"/>
          </p:cNvSpPr>
          <p:nvPr/>
        </p:nvSpPr>
        <p:spPr bwMode="auto">
          <a:xfrm>
            <a:off x="1430807" y="5300376"/>
            <a:ext cx="7862521"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EEB1013-99A1-F6B2-DCFF-838D005EB2E7}"/>
              </a:ext>
            </a:extLst>
          </p:cNvPr>
          <p:cNvSpPr>
            <a:spLocks noChangeArrowheads="1"/>
          </p:cNvSpPr>
          <p:nvPr/>
        </p:nvSpPr>
        <p:spPr bwMode="auto">
          <a:xfrm>
            <a:off x="1039452" y="784526"/>
            <a:ext cx="10325234" cy="5288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framework has been proposed to enhance music recommendation systems using physiological signals, particularly facial expressions. Since facial images are effective for emotion detection, the system uses OpenCV and preprocessing to extract features from uploaded user images. These features are fed into an SVM or deep learning model to classify the user's mood. Based on the detected emotion, relevant songs are recommended via a dropdown list. The user can then select and play a song. Efforts to use sensor data for mood detection were limited due to a lack of publicly available datasets. Experimental results confirm the system’s accuracy, making it suitable for integration with recommendation engines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51455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0">
              <a:schemeClr val="bg2">
                <a:tint val="93000"/>
                <a:satMod val="150000"/>
                <a:shade val="98000"/>
                <a:lumMod val="102000"/>
                <a:alpha val="50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19899D-AD7F-6495-1EE8-00841B41E40C}"/>
              </a:ext>
            </a:extLst>
          </p:cNvPr>
          <p:cNvSpPr txBox="1"/>
          <p:nvPr/>
        </p:nvSpPr>
        <p:spPr>
          <a:xfrm>
            <a:off x="1197430" y="1066800"/>
            <a:ext cx="10384970" cy="3046988"/>
          </a:xfrm>
          <a:prstGeom prst="rect">
            <a:avLst/>
          </a:prstGeom>
          <a:noFill/>
        </p:spPr>
        <p:txBody>
          <a:bodyPr wrap="square" rtlCol="0">
            <a:spAutoFit/>
          </a:bodyPr>
          <a:lstStyle/>
          <a:p>
            <a:pPr algn="ctr"/>
            <a:endParaRPr lang="en-US" sz="9600" b="1" dirty="0">
              <a:solidFill>
                <a:schemeClr val="bg1"/>
              </a:solidFill>
              <a:latin typeface="Times New Roman" panose="02020603050405020304" pitchFamily="18" charset="0"/>
              <a:cs typeface="Times New Roman" panose="02020603050405020304" pitchFamily="18" charset="0"/>
            </a:endParaRPr>
          </a:p>
          <a:p>
            <a:pPr algn="ctr"/>
            <a:r>
              <a:rPr lang="en-US" sz="9600" b="1" dirty="0">
                <a:solidFill>
                  <a:schemeClr val="bg1"/>
                </a:solidFill>
                <a:latin typeface="Times New Roman" panose="02020603050405020304" pitchFamily="18" charset="0"/>
                <a:cs typeface="Times New Roman" panose="02020603050405020304" pitchFamily="18" charset="0"/>
              </a:rPr>
              <a:t>THANK YOU</a:t>
            </a:r>
            <a:endParaRPr lang="en-IN" sz="9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4614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216</TotalTime>
  <Words>649</Words>
  <Application>Microsoft Office PowerPoint</Application>
  <PresentationFormat>Widescreen</PresentationFormat>
  <Paragraphs>43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VijayaSri Junnu</dc:creator>
  <cp:lastModifiedBy>VijayaSri Junnu</cp:lastModifiedBy>
  <cp:revision>5</cp:revision>
  <dcterms:created xsi:type="dcterms:W3CDTF">2024-11-17T08:36:06Z</dcterms:created>
  <dcterms:modified xsi:type="dcterms:W3CDTF">2025-06-10T15:28:01Z</dcterms:modified>
</cp:coreProperties>
</file>